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99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6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25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23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24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476402" y="2809951"/>
            <a:ext cx="3581705" cy="36667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95" b="-395"/>
          <a:stretch/>
        </p:blipFill>
        <p:spPr>
          <a:xfrm>
            <a:off x="705002" y="3495751"/>
            <a:ext cx="3124505" cy="1920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4304995" y="2809951"/>
            <a:ext cx="3581705" cy="366674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t="-395" b="-395"/>
          <a:stretch/>
        </p:blipFill>
        <p:spPr>
          <a:xfrm>
            <a:off x="4533595" y="3495751"/>
            <a:ext cx="3124505" cy="19202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8134502" y="2809951"/>
            <a:ext cx="3581705" cy="366674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/>
          <a:srcRect t="-395" b="-395"/>
          <a:stretch/>
        </p:blipFill>
        <p:spPr>
          <a:xfrm>
            <a:off x="8363102" y="3495751"/>
            <a:ext cx="3124505" cy="19202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476402" y="333756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599846" y="457200"/>
            <a:ext cx="228600" cy="228600"/>
          </a:xfrm>
          <a:prstGeom prst="rect">
            <a:avLst/>
          </a:prstGeom>
        </p:spPr>
      </p:pic>
      <p:sp>
        <p:nvSpPr>
          <p:cNvPr id="13" name="Text 3"/>
          <p:cNvSpPr txBox="1"/>
          <p:nvPr/>
        </p:nvSpPr>
        <p:spPr>
          <a:xfrm>
            <a:off x="1095451" y="442570"/>
            <a:ext cx="3333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CoP Physical AI — 첫걸음</a:t>
            </a:r>
            <a:endParaRPr lang="en-US" sz="1300" dirty="0"/>
          </a:p>
        </p:txBody>
      </p:sp>
      <p:sp>
        <p:nvSpPr>
          <p:cNvPr id="14" name="Text 4"/>
          <p:cNvSpPr txBox="1"/>
          <p:nvPr/>
        </p:nvSpPr>
        <p:spPr>
          <a:xfrm>
            <a:off x="8858707" y="357530"/>
            <a:ext cx="2857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5월</a:t>
            </a:r>
            <a:endParaRPr lang="en-US" sz="1300" dirty="0"/>
          </a:p>
        </p:txBody>
      </p:sp>
      <p:sp>
        <p:nvSpPr>
          <p:cNvPr id="15" name="Text 5"/>
          <p:cNvSpPr txBox="1"/>
          <p:nvPr/>
        </p:nvSpPr>
        <p:spPr>
          <a:xfrm>
            <a:off x="8858707" y="614477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기간: 2026.05.01 ~ 2026.05.31</a:t>
            </a:r>
            <a:endParaRPr lang="en-US" sz="9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05202" y="1638605"/>
            <a:ext cx="342900" cy="342900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2762402" y="1570025"/>
            <a:ext cx="723473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사내 CoP 활동보고서 </a:t>
            </a:r>
            <a:r>
              <a:rPr lang="en-US" sz="31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5월</a:t>
            </a:r>
            <a:endParaRPr lang="en-US" sz="3100" dirty="0"/>
          </a:p>
        </p:txBody>
      </p:sp>
      <p:sp>
        <p:nvSpPr>
          <p:cNvPr id="18" name="Text 7"/>
          <p:cNvSpPr txBox="1"/>
          <p:nvPr/>
        </p:nvSpPr>
        <p:spPr>
          <a:xfrm>
            <a:off x="476402" y="2238451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Physical AI (Embodied AI 기술 내재화)</a:t>
            </a: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목표로 한 </a:t>
            </a: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기반 모방학습·강화학습 로보틱스 기술</a:t>
            </a: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내재화 활동 </a:t>
            </a:r>
            <a:endParaRPr lang="en-US" sz="1500" dirty="0"/>
          </a:p>
        </p:txBody>
      </p:sp>
      <p:sp>
        <p:nvSpPr>
          <p:cNvPr id="19" name="Shape 8"/>
          <p:cNvSpPr/>
          <p:nvPr/>
        </p:nvSpPr>
        <p:spPr>
          <a:xfrm>
            <a:off x="705002" y="30385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0100" y="3133649"/>
            <a:ext cx="152705" cy="152705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1162202" y="3081528"/>
            <a:ext cx="7936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개요</a:t>
            </a:r>
            <a:endParaRPr lang="en-US" sz="1300" dirty="0"/>
          </a:p>
        </p:txBody>
      </p:sp>
      <p:sp>
        <p:nvSpPr>
          <p:cNvPr id="22" name="Shape 10"/>
          <p:cNvSpPr/>
          <p:nvPr/>
        </p:nvSpPr>
        <p:spPr>
          <a:xfrm>
            <a:off x="3238805" y="3086100"/>
            <a:ext cx="590702" cy="247802"/>
          </a:xfrm>
          <a:prstGeom prst="roundRect">
            <a:avLst>
              <a:gd name="adj" fmla="val 369004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1"/>
          <p:cNvSpPr txBox="1"/>
          <p:nvPr/>
        </p:nvSpPr>
        <p:spPr>
          <a:xfrm>
            <a:off x="3363163" y="3117190"/>
            <a:ext cx="3968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54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sp>
        <p:nvSpPr>
          <p:cNvPr id="24" name="Text 12"/>
          <p:cNvSpPr txBox="1"/>
          <p:nvPr/>
        </p:nvSpPr>
        <p:spPr>
          <a:xfrm>
            <a:off x="705002" y="3705149"/>
            <a:ext cx="32863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명칭: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 CoP Physical AI — 첫걸음</a:t>
            </a:r>
            <a:endParaRPr lang="en-US" sz="1100" dirty="0"/>
          </a:p>
        </p:txBody>
      </p:sp>
      <p:sp>
        <p:nvSpPr>
          <p:cNvPr id="25" name="Text 13"/>
          <p:cNvSpPr txBox="1"/>
          <p:nvPr/>
        </p:nvSpPr>
        <p:spPr>
          <a:xfrm>
            <a:off x="705002" y="4062679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회차: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제2회차</a:t>
            </a:r>
            <a:endParaRPr lang="en-US" sz="1100" dirty="0"/>
          </a:p>
        </p:txBody>
      </p:sp>
      <p:sp>
        <p:nvSpPr>
          <p:cNvPr id="26" name="Text 14"/>
          <p:cNvSpPr txBox="1"/>
          <p:nvPr/>
        </p:nvSpPr>
        <p:spPr>
          <a:xfrm>
            <a:off x="705002" y="4419295"/>
            <a:ext cx="3124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주제: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SO-ARM101 기반 모방학습·강화학습 로보틱스 기술 내재화</a:t>
            </a:r>
            <a:endParaRPr lang="en-US" sz="1100" dirty="0"/>
          </a:p>
        </p:txBody>
      </p:sp>
      <p:sp>
        <p:nvSpPr>
          <p:cNvPr id="27" name="Text 15"/>
          <p:cNvSpPr txBox="1"/>
          <p:nvPr/>
        </p:nvSpPr>
        <p:spPr>
          <a:xfrm>
            <a:off x="705002" y="5020056"/>
            <a:ext cx="3124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PCB 제품 조정 자동화 및 RS232 포트 HHT 자동 결선 시연 (10월)</a:t>
            </a:r>
            <a:endParaRPr lang="en-US" sz="1100" dirty="0"/>
          </a:p>
        </p:txBody>
      </p:sp>
      <p:sp>
        <p:nvSpPr>
          <p:cNvPr id="28" name="Shape 16"/>
          <p:cNvSpPr/>
          <p:nvPr/>
        </p:nvSpPr>
        <p:spPr>
          <a:xfrm>
            <a:off x="4533595" y="30385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29607" y="3133649"/>
            <a:ext cx="152705" cy="152705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4990795" y="3081528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현황</a:t>
            </a:r>
            <a:endParaRPr lang="en-US" sz="1300" dirty="0"/>
          </a:p>
        </p:txBody>
      </p:sp>
      <p:sp>
        <p:nvSpPr>
          <p:cNvPr id="31" name="Text 18"/>
          <p:cNvSpPr txBox="1"/>
          <p:nvPr/>
        </p:nvSpPr>
        <p:spPr>
          <a:xfrm>
            <a:off x="4533595" y="3705149"/>
            <a:ext cx="35698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1(환경 구축) 단계 완료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0"/>
          <a:srcRect l="-5" r="-5"/>
          <a:stretch/>
        </p:blipFill>
        <p:spPr>
          <a:xfrm>
            <a:off x="4533595" y="4138574"/>
            <a:ext cx="3124505" cy="114300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 t="-10" b="-10"/>
          <a:stretch/>
        </p:blipFill>
        <p:spPr>
          <a:xfrm>
            <a:off x="4533595" y="4138574"/>
            <a:ext cx="780898" cy="114300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4533595" y="4347972"/>
            <a:ext cx="3124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진행률: 50% (8/16주)</a:t>
            </a:r>
            <a:endParaRPr lang="en-US" sz="1100" dirty="0"/>
          </a:p>
        </p:txBody>
      </p:sp>
      <p:sp>
        <p:nvSpPr>
          <p:cNvPr id="35" name="Text 20"/>
          <p:cNvSpPr txBox="1"/>
          <p:nvPr/>
        </p:nvSpPr>
        <p:spPr>
          <a:xfrm>
            <a:off x="4533595" y="4753051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조립 및 LeRobot 개발환경 구축이 완료되어, 다음 단계인 캘리브레이션·텔레오퍼레이션 진입 준비를 마쳤습니다.</a:t>
            </a:r>
            <a:endParaRPr lang="en-US" sz="1000" dirty="0"/>
          </a:p>
        </p:txBody>
      </p:sp>
      <p:sp>
        <p:nvSpPr>
          <p:cNvPr id="36" name="Shape 21"/>
          <p:cNvSpPr/>
          <p:nvPr/>
        </p:nvSpPr>
        <p:spPr>
          <a:xfrm>
            <a:off x="8363102" y="30385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2"/>
          <a:srcRect t="-6250" b="-6250"/>
          <a:stretch/>
        </p:blipFill>
        <p:spPr>
          <a:xfrm>
            <a:off x="8458200" y="3133649"/>
            <a:ext cx="152705" cy="15270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8820302" y="3081528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8363102" y="3705149"/>
            <a:ext cx="3124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조립: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100% 완료 (Leader 1대, Follower 1대)</a:t>
            </a:r>
            <a:endParaRPr lang="en-US" sz="1100" dirty="0"/>
          </a:p>
        </p:txBody>
      </p:sp>
      <p:sp>
        <p:nvSpPr>
          <p:cNvPr id="40" name="Text 24"/>
          <p:cNvSpPr txBox="1"/>
          <p:nvPr/>
        </p:nvSpPr>
        <p:spPr>
          <a:xfrm>
            <a:off x="8363102" y="4304995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개발환경 구축: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100% 완료 (Python 3.12 + LeRobot + CUDA)</a:t>
            </a:r>
            <a:endParaRPr lang="en-US" sz="1100" dirty="0"/>
          </a:p>
        </p:txBody>
      </p:sp>
      <p:sp>
        <p:nvSpPr>
          <p:cNvPr id="41" name="Text 25"/>
          <p:cNvSpPr txBox="1"/>
          <p:nvPr/>
        </p:nvSpPr>
        <p:spPr>
          <a:xfrm>
            <a:off x="8363102" y="4662526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미팅: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1회 진행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1286" y="265772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476402" y="1524305"/>
            <a:ext cx="5495544" cy="4953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98" b="-398"/>
          <a:stretch/>
        </p:blipFill>
        <p:spPr>
          <a:xfrm>
            <a:off x="780898" y="2400300"/>
            <a:ext cx="4886554" cy="1920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6210605" y="1524305"/>
            <a:ext cx="5505602" cy="49533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402" b="-402"/>
          <a:stretch/>
        </p:blipFill>
        <p:spPr>
          <a:xfrm>
            <a:off x="6515100" y="2400300"/>
            <a:ext cx="4895698" cy="19202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6515100" y="2572207"/>
            <a:ext cx="4895698" cy="1714500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3"/>
          <p:cNvSpPr/>
          <p:nvPr/>
        </p:nvSpPr>
        <p:spPr>
          <a:xfrm>
            <a:off x="476402" y="1901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500" y="286207"/>
            <a:ext cx="190195" cy="190195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972007" y="228600"/>
            <a:ext cx="285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개요</a:t>
            </a:r>
            <a:endParaRPr lang="en-US" sz="18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6402" y="1086307"/>
            <a:ext cx="304495" cy="30449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895198" y="952805"/>
            <a:ext cx="14292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개요</a:t>
            </a:r>
            <a:endParaRPr lang="en-US" sz="2400" dirty="0"/>
          </a:p>
        </p:txBody>
      </p:sp>
      <p:sp>
        <p:nvSpPr>
          <p:cNvPr id="15" name="Shape 6"/>
          <p:cNvSpPr/>
          <p:nvPr/>
        </p:nvSpPr>
        <p:spPr>
          <a:xfrm>
            <a:off x="2381098" y="1028700"/>
            <a:ext cx="905256" cy="267005"/>
          </a:xfrm>
          <a:prstGeom prst="roundRect">
            <a:avLst>
              <a:gd name="adj" fmla="val 9784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7"/>
          <p:cNvSpPr txBox="1"/>
          <p:nvPr/>
        </p:nvSpPr>
        <p:spPr>
          <a:xfrm>
            <a:off x="2381098" y="1028700"/>
            <a:ext cx="9052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5월</a:t>
            </a:r>
            <a:endParaRPr lang="en-US" sz="1000" dirty="0"/>
          </a:p>
        </p:txBody>
      </p:sp>
      <p:sp>
        <p:nvSpPr>
          <p:cNvPr id="17" name="Text 8"/>
          <p:cNvSpPr txBox="1"/>
          <p:nvPr/>
        </p:nvSpPr>
        <p:spPr>
          <a:xfrm>
            <a:off x="7883042" y="1047902"/>
            <a:ext cx="2880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기간: 2026.05.01 ~ 2026.05.31</a:t>
            </a:r>
            <a:endParaRPr lang="en-US" sz="1100" dirty="0"/>
          </a:p>
        </p:txBody>
      </p:sp>
      <p:sp>
        <p:nvSpPr>
          <p:cNvPr id="20" name="Shape 10"/>
          <p:cNvSpPr/>
          <p:nvPr/>
        </p:nvSpPr>
        <p:spPr>
          <a:xfrm>
            <a:off x="10906049" y="1028700"/>
            <a:ext cx="752551" cy="256946"/>
          </a:xfrm>
          <a:prstGeom prst="roundRect">
            <a:avLst>
              <a:gd name="adj" fmla="val 355872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20349" y="1095451"/>
            <a:ext cx="123444" cy="123444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1201400" y="1028700"/>
            <a:ext cx="3429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54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sp>
        <p:nvSpPr>
          <p:cNvPr id="21" name="Shape 11"/>
          <p:cNvSpPr/>
          <p:nvPr/>
        </p:nvSpPr>
        <p:spPr>
          <a:xfrm>
            <a:off x="780898" y="1828800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71423" y="1943100"/>
            <a:ext cx="237744" cy="19019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1314907" y="1923898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기본 정보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711692"/>
              </p:ext>
            </p:extLst>
          </p:nvPr>
        </p:nvGraphicFramePr>
        <p:xfrm>
          <a:off x="780898" y="2572207"/>
          <a:ext cx="4886553" cy="3068268"/>
        </p:xfrm>
        <a:graphic>
          <a:graphicData uri="http://schemas.openxmlformats.org/drawingml/2006/table">
            <a:tbl>
              <a:tblPr/>
              <a:tblGrid>
                <a:gridCol w="122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9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CoP 명칭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2400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 CoP Physical AI — 첫걸음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(Embodied AI 기술 내재화)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보고 기간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2026.05.01 ~ 2026.05.31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보고 회차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제2회차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활동 주제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SO-ARM101 기반 모방학습·강화학습 로보틱스 </a:t>
                      </a:r>
                      <a:r>
                        <a:rPr lang="en-US" sz="1050" dirty="0" err="1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</a:t>
                      </a: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내재화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최종 목표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PCB 제품 조정 자동화 및 RS232 포트 HHT 자동 결선 시연 (10월)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hape 13"/>
          <p:cNvSpPr/>
          <p:nvPr/>
        </p:nvSpPr>
        <p:spPr>
          <a:xfrm>
            <a:off x="6515100" y="1828800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29400" y="1943100"/>
            <a:ext cx="190195" cy="19019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048195" y="1923898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현황</a:t>
            </a:r>
            <a:endParaRPr lang="en-US" sz="1500" dirty="0"/>
          </a:p>
        </p:txBody>
      </p:sp>
      <p:sp>
        <p:nvSpPr>
          <p:cNvPr id="30" name="Shape 16"/>
          <p:cNvSpPr/>
          <p:nvPr/>
        </p:nvSpPr>
        <p:spPr>
          <a:xfrm>
            <a:off x="10382098" y="1904695"/>
            <a:ext cx="752551" cy="256946"/>
          </a:xfrm>
          <a:prstGeom prst="roundRect">
            <a:avLst>
              <a:gd name="adj" fmla="val 355872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496398" y="1971446"/>
            <a:ext cx="123444" cy="123444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0677449" y="1904695"/>
            <a:ext cx="3429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54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sp>
        <p:nvSpPr>
          <p:cNvPr id="31" name="Text 17"/>
          <p:cNvSpPr txBox="1"/>
          <p:nvPr/>
        </p:nvSpPr>
        <p:spPr>
          <a:xfrm>
            <a:off x="6743700" y="2847442"/>
            <a:ext cx="36420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1(환경 구축) 단계 완료</a:t>
            </a:r>
            <a:endParaRPr lang="en-US" sz="1200" dirty="0"/>
          </a:p>
        </p:txBody>
      </p:sp>
      <p:sp>
        <p:nvSpPr>
          <p:cNvPr id="32" name="Text 18"/>
          <p:cNvSpPr txBox="1"/>
          <p:nvPr/>
        </p:nvSpPr>
        <p:spPr>
          <a:xfrm>
            <a:off x="10743286" y="2800807"/>
            <a:ext cx="428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5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3"/>
          <a:srcRect t="-3" b="-3"/>
          <a:stretch/>
        </p:blipFill>
        <p:spPr>
          <a:xfrm>
            <a:off x="6743700" y="3228746"/>
            <a:ext cx="4419295" cy="11430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4"/>
          <a:srcRect t="-14" b="-14"/>
          <a:stretch/>
        </p:blipFill>
        <p:spPr>
          <a:xfrm>
            <a:off x="6743700" y="3228746"/>
            <a:ext cx="1104595" cy="11430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6743700" y="3534156"/>
            <a:ext cx="442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조립 및 LeRobot 개발환경 구축이 완료되어, 다음 단계인 캘리브레이션·텔레오퍼레이션 진입 준비를 마쳤습니다.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6402" y="1901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71500" y="286207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72007" y="195682"/>
            <a:ext cx="222656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활동 및 성과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76402" y="952805"/>
            <a:ext cx="5524805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5002" y="1138428"/>
            <a:ext cx="171907" cy="17190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52805" y="1095451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요약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705002" y="1466698"/>
            <a:ext cx="50676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조립 및 개발환경 구축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목표로 운영되었으며,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Leader/Follower 조립과 LeRobot 기반 개발환경 구성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중심으로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1(환경 구축)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단계를 완료하였음. 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191402" y="952805"/>
            <a:ext cx="5524805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0002" y="1138428"/>
            <a:ext cx="171907" cy="1719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67805" y="1095451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6420002" y="1466698"/>
            <a:ext cx="5067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PCB 제품 조정 자동화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RS232 포트 HHT 자동 결선 시연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(10월) 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76402" y="2476195"/>
            <a:ext cx="11239805" cy="4190695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5002" y="2714854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90295" y="2667305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주차별 활동 계획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705002" y="3105302"/>
            <a:ext cx="1295705" cy="400507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3"/>
          <p:cNvSpPr/>
          <p:nvPr/>
        </p:nvSpPr>
        <p:spPr>
          <a:xfrm>
            <a:off x="705002" y="3486607"/>
            <a:ext cx="12957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4"/>
          <p:cNvSpPr txBox="1"/>
          <p:nvPr/>
        </p:nvSpPr>
        <p:spPr>
          <a:xfrm>
            <a:off x="705002" y="3105302"/>
            <a:ext cx="12957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1998878" y="3105302"/>
            <a:ext cx="1619402" cy="400507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1998878" y="3486607"/>
            <a:ext cx="1619402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1998878" y="3105302"/>
            <a:ext cx="161940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일자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615538" y="3105302"/>
            <a:ext cx="7877556" cy="400507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3615538" y="3486607"/>
            <a:ext cx="7877556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0"/>
          <p:cNvSpPr txBox="1"/>
          <p:nvPr/>
        </p:nvSpPr>
        <p:spPr>
          <a:xfrm>
            <a:off x="3615538" y="3105302"/>
            <a:ext cx="787755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내용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705002" y="3914546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2"/>
          <p:cNvSpPr txBox="1"/>
          <p:nvPr/>
        </p:nvSpPr>
        <p:spPr>
          <a:xfrm>
            <a:off x="1189634" y="3504895"/>
            <a:ext cx="81107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642" y="3657600"/>
            <a:ext cx="114300" cy="1143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1998878" y="3914546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 txBox="1"/>
          <p:nvPr/>
        </p:nvSpPr>
        <p:spPr>
          <a:xfrm>
            <a:off x="1998878" y="3504895"/>
            <a:ext cx="16194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05.01 ~ 05.10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615538" y="3914546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6"/>
          <p:cNvSpPr/>
          <p:nvPr/>
        </p:nvSpPr>
        <p:spPr>
          <a:xfrm>
            <a:off x="3749040" y="3614623"/>
            <a:ext cx="209398" cy="209398"/>
          </a:xfrm>
          <a:prstGeom prst="ellipse">
            <a:avLst/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3806647" y="3672230"/>
            <a:ext cx="95098" cy="9509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072738" y="3605479"/>
            <a:ext cx="5615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입고 확인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부품 검수, 조립 매뉴얼 사전 학습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05002" y="4319626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 txBox="1"/>
          <p:nvPr/>
        </p:nvSpPr>
        <p:spPr>
          <a:xfrm>
            <a:off x="1189634" y="3919118"/>
            <a:ext cx="81107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</a:t>
            </a:r>
            <a:endParaRPr lang="en-US" sz="10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642" y="4067251"/>
            <a:ext cx="114300" cy="1143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998878" y="4319626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 txBox="1"/>
          <p:nvPr/>
        </p:nvSpPr>
        <p:spPr>
          <a:xfrm>
            <a:off x="1998878" y="3919118"/>
            <a:ext cx="16194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05.11 ~ 05.17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3615538" y="4319626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3"/>
          <p:cNvSpPr/>
          <p:nvPr/>
        </p:nvSpPr>
        <p:spPr>
          <a:xfrm>
            <a:off x="3749040" y="4024274"/>
            <a:ext cx="209398" cy="209398"/>
          </a:xfrm>
          <a:prstGeom prst="ellipse">
            <a:avLst/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3806647" y="4081882"/>
            <a:ext cx="95098" cy="9509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4072738" y="4015130"/>
            <a:ext cx="5191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Follower 조립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Feetech STS3215 서보 1차 캘리브레이션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705002" y="4729277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 txBox="1"/>
          <p:nvPr/>
        </p:nvSpPr>
        <p:spPr>
          <a:xfrm>
            <a:off x="1189634" y="4328770"/>
            <a:ext cx="81107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</a:t>
            </a:r>
            <a:endParaRPr lang="en-US" sz="10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642" y="4476902"/>
            <a:ext cx="114300" cy="114300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1998878" y="4729277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38"/>
          <p:cNvSpPr txBox="1"/>
          <p:nvPr/>
        </p:nvSpPr>
        <p:spPr>
          <a:xfrm>
            <a:off x="1998878" y="4328770"/>
            <a:ext cx="16194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05.18 ~ 05.24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3615538" y="4729277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0"/>
          <p:cNvSpPr/>
          <p:nvPr/>
        </p:nvSpPr>
        <p:spPr>
          <a:xfrm>
            <a:off x="3749040" y="4433926"/>
            <a:ext cx="209398" cy="20939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06647" y="4490618"/>
            <a:ext cx="95098" cy="95098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4072738" y="4424782"/>
            <a:ext cx="46771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Leader 조립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USB 통신 포트 매핑, 모터 ID 설정</a:t>
            </a:r>
            <a:endParaRPr lang="en-US" sz="1000" dirty="0"/>
          </a:p>
        </p:txBody>
      </p:sp>
      <p:sp>
        <p:nvSpPr>
          <p:cNvPr id="55" name="Shape 42"/>
          <p:cNvSpPr/>
          <p:nvPr/>
        </p:nvSpPr>
        <p:spPr>
          <a:xfrm>
            <a:off x="705002" y="5138928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43"/>
          <p:cNvSpPr txBox="1"/>
          <p:nvPr/>
        </p:nvSpPr>
        <p:spPr>
          <a:xfrm>
            <a:off x="1189634" y="4738421"/>
            <a:ext cx="81107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</a:t>
            </a:r>
            <a:endParaRPr lang="en-US" sz="1000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642" y="4886554"/>
            <a:ext cx="114300" cy="114300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1998878" y="5138928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5"/>
          <p:cNvSpPr txBox="1"/>
          <p:nvPr/>
        </p:nvSpPr>
        <p:spPr>
          <a:xfrm>
            <a:off x="1998878" y="4738421"/>
            <a:ext cx="16194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05.25 ~ 05.31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3615538" y="5138928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47"/>
          <p:cNvSpPr/>
          <p:nvPr/>
        </p:nvSpPr>
        <p:spPr>
          <a:xfrm>
            <a:off x="3749040" y="4843577"/>
            <a:ext cx="209398" cy="20939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06647" y="4900270"/>
            <a:ext cx="95098" cy="95098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4072738" y="48335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3.12 + LeRobot 환경 구축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CUDA·드라이버 설치, 동작 테스트</a:t>
            </a:r>
            <a:endParaRPr lang="en-US" sz="1000" dirty="0"/>
          </a:p>
        </p:txBody>
      </p:sp>
      <p:sp>
        <p:nvSpPr>
          <p:cNvPr id="64" name="Shape 49"/>
          <p:cNvSpPr/>
          <p:nvPr/>
        </p:nvSpPr>
        <p:spPr>
          <a:xfrm>
            <a:off x="705002" y="5548579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50"/>
          <p:cNvSpPr txBox="1"/>
          <p:nvPr/>
        </p:nvSpPr>
        <p:spPr>
          <a:xfrm>
            <a:off x="1189634" y="5148072"/>
            <a:ext cx="81107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5주차</a:t>
            </a:r>
            <a:endParaRPr lang="en-US" sz="1000" dirty="0"/>
          </a:p>
        </p:txBody>
      </p:sp>
      <p:pic>
        <p:nvPicPr>
          <p:cNvPr id="66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8642" y="5296205"/>
            <a:ext cx="114300" cy="114300"/>
          </a:xfrm>
          <a:prstGeom prst="rect">
            <a:avLst/>
          </a:prstGeom>
        </p:spPr>
      </p:pic>
      <p:sp>
        <p:nvSpPr>
          <p:cNvPr id="67" name="Shape 51"/>
          <p:cNvSpPr/>
          <p:nvPr/>
        </p:nvSpPr>
        <p:spPr>
          <a:xfrm>
            <a:off x="1998878" y="5548579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52"/>
          <p:cNvSpPr txBox="1"/>
          <p:nvPr/>
        </p:nvSpPr>
        <p:spPr>
          <a:xfrm>
            <a:off x="1998878" y="5148072"/>
            <a:ext cx="16194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(월간 누적)</a:t>
            </a:r>
            <a:endParaRPr lang="en-US" sz="1000" dirty="0"/>
          </a:p>
        </p:txBody>
      </p:sp>
      <p:sp>
        <p:nvSpPr>
          <p:cNvPr id="69" name="Shape 53"/>
          <p:cNvSpPr/>
          <p:nvPr/>
        </p:nvSpPr>
        <p:spPr>
          <a:xfrm>
            <a:off x="3615538" y="5548579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54"/>
          <p:cNvSpPr/>
          <p:nvPr/>
        </p:nvSpPr>
        <p:spPr>
          <a:xfrm>
            <a:off x="3749040" y="5253228"/>
            <a:ext cx="209398" cy="209398"/>
          </a:xfrm>
          <a:prstGeom prst="ellipse">
            <a:avLst/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806647" y="5309921"/>
            <a:ext cx="95098" cy="95098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4072738" y="5243170"/>
            <a:ext cx="4045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및 연구 활동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모터 제어 스크립트 작성, LeRobot 드라이버 </a:t>
            </a:r>
            <a:r>
              <a:rPr lang="en-US" sz="10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6402" y="1901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71500" y="286207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72007" y="209398"/>
            <a:ext cx="10314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 계획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" y="1009498"/>
            <a:ext cx="267005" cy="2670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7707" y="942746"/>
            <a:ext cx="120335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 계획</a:t>
            </a:r>
            <a:endParaRPr lang="en-US" sz="2100" dirty="0"/>
          </a:p>
        </p:txBody>
      </p:sp>
      <p:sp>
        <p:nvSpPr>
          <p:cNvPr id="10" name="Shape 5"/>
          <p:cNvSpPr/>
          <p:nvPr/>
        </p:nvSpPr>
        <p:spPr>
          <a:xfrm>
            <a:off x="1944929" y="1004926"/>
            <a:ext cx="1047902" cy="276149"/>
          </a:xfrm>
          <a:prstGeom prst="roundRect">
            <a:avLst>
              <a:gd name="adj" fmla="val 13701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1944929" y="1004926"/>
            <a:ext cx="10479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차월 활동 계획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9631375" y="1043330"/>
            <a:ext cx="24825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기간: 2026.06.01 ~ 2026.06.30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76402" y="1571854"/>
            <a:ext cx="5505602" cy="4953305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9"/>
          <p:cNvSpPr/>
          <p:nvPr/>
        </p:nvSpPr>
        <p:spPr>
          <a:xfrm>
            <a:off x="743407" y="1814170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847649" y="1919326"/>
            <a:ext cx="171907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8098" y="1876349"/>
            <a:ext cx="19760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 캘리브레이션 및 텔레오퍼레이션 준비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104181" y="1880921"/>
            <a:ext cx="619049" cy="247802"/>
          </a:xfrm>
          <a:prstGeom prst="roundRect">
            <a:avLst>
              <a:gd name="adj" fmla="val 369004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18481" y="1947672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0388" y="1880921"/>
            <a:ext cx="325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743407" y="2672791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4"/>
          <p:cNvSpPr/>
          <p:nvPr/>
        </p:nvSpPr>
        <p:spPr>
          <a:xfrm>
            <a:off x="905256" y="2853842"/>
            <a:ext cx="304495" cy="304495"/>
          </a:xfrm>
          <a:prstGeom prst="ellipse">
            <a:avLst/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990295" y="2939796"/>
            <a:ext cx="133502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24051" y="2834640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서보 정밀 캘리브레이션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1324051" y="3087014"/>
            <a:ext cx="48207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오차 최소화, 6 DoF 전 축 정렬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743407" y="3968496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8"/>
          <p:cNvSpPr/>
          <p:nvPr/>
        </p:nvSpPr>
        <p:spPr>
          <a:xfrm>
            <a:off x="905256" y="4149547"/>
            <a:ext cx="304495" cy="304495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90295" y="4235501"/>
            <a:ext cx="133502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324051" y="4130345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시스템 구성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1324051" y="4382719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오버헤드 + 그리퍼 카메라 2대 마운트 및 캡처 검증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743407" y="5264201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905256" y="5444338"/>
            <a:ext cx="304495" cy="3044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90295" y="5530291"/>
            <a:ext cx="133502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324051" y="5426050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텔레오퍼레이션 1차 동작 확인</a:t>
            </a:r>
            <a:endParaRPr lang="en-US" sz="1100" dirty="0"/>
          </a:p>
        </p:txBody>
      </p:sp>
      <p:sp>
        <p:nvSpPr>
          <p:cNvPr id="34" name="Text 24"/>
          <p:cNvSpPr txBox="1"/>
          <p:nvPr/>
        </p:nvSpPr>
        <p:spPr>
          <a:xfrm>
            <a:off x="1324051" y="5678424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Leader → Follower 미러링 테스트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210605" y="1571854"/>
            <a:ext cx="5505602" cy="4953305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6"/>
          <p:cNvSpPr/>
          <p:nvPr/>
        </p:nvSpPr>
        <p:spPr>
          <a:xfrm>
            <a:off x="6476695" y="1814170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81851" y="1919326"/>
            <a:ext cx="171907" cy="171907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972300" y="1876349"/>
            <a:ext cx="1610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및 연구 활동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10733227" y="1880921"/>
            <a:ext cx="724205" cy="247802"/>
          </a:xfrm>
          <a:prstGeom prst="roundRect">
            <a:avLst>
              <a:gd name="adj" fmla="val 369004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10847527" y="1947672"/>
            <a:ext cx="114300" cy="1143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1019433" y="1880921"/>
            <a:ext cx="42915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54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sp>
        <p:nvSpPr>
          <p:cNvPr id="42" name="Shape 30"/>
          <p:cNvSpPr/>
          <p:nvPr/>
        </p:nvSpPr>
        <p:spPr>
          <a:xfrm>
            <a:off x="6476695" y="2672791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1"/>
          <p:cNvSpPr/>
          <p:nvPr/>
        </p:nvSpPr>
        <p:spPr>
          <a:xfrm>
            <a:off x="6638544" y="2853842"/>
            <a:ext cx="304495" cy="304495"/>
          </a:xfrm>
          <a:prstGeom prst="ellipse">
            <a:avLst/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6724498" y="2939796"/>
            <a:ext cx="133502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7058254" y="2834640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모방학습 데이터셋 수집</a:t>
            </a:r>
            <a:endParaRPr lang="en-US" sz="1100" dirty="0"/>
          </a:p>
        </p:txBody>
      </p:sp>
      <p:sp>
        <p:nvSpPr>
          <p:cNvPr id="46" name="Text 33"/>
          <p:cNvSpPr txBox="1"/>
          <p:nvPr/>
        </p:nvSpPr>
        <p:spPr>
          <a:xfrm>
            <a:off x="7058254" y="3087014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텔레오퍼레이션 데모 데이터 수집 및 전처리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6476695" y="3968496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35"/>
          <p:cNvSpPr/>
          <p:nvPr/>
        </p:nvSpPr>
        <p:spPr>
          <a:xfrm>
            <a:off x="6638544" y="4149547"/>
            <a:ext cx="304495" cy="304495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4"/>
          <a:srcRect t="-12500" b="-12500"/>
          <a:stretch/>
        </p:blipFill>
        <p:spPr>
          <a:xfrm>
            <a:off x="6724498" y="4235501"/>
            <a:ext cx="133502" cy="133502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7058254" y="4130345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학습 환경 구성</a:t>
            </a:r>
            <a:endParaRPr lang="en-US" sz="1100" dirty="0"/>
          </a:p>
        </p:txBody>
      </p:sp>
      <p:sp>
        <p:nvSpPr>
          <p:cNvPr id="51" name="Text 37"/>
          <p:cNvSpPr txBox="1"/>
          <p:nvPr/>
        </p:nvSpPr>
        <p:spPr>
          <a:xfrm>
            <a:off x="7058254" y="4382719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ACT/Diffusion Policy 학습 파이프라인 셋업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6476695" y="5264201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39"/>
          <p:cNvSpPr/>
          <p:nvPr/>
        </p:nvSpPr>
        <p:spPr>
          <a:xfrm>
            <a:off x="6638544" y="5444338"/>
            <a:ext cx="304495" cy="3044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724498" y="5530291"/>
            <a:ext cx="133502" cy="133502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7058254" y="5426050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점검</a:t>
            </a:r>
            <a:endParaRPr lang="en-US" sz="1100" dirty="0"/>
          </a:p>
        </p:txBody>
      </p:sp>
      <p:sp>
        <p:nvSpPr>
          <p:cNvPr id="56" name="Text 41"/>
          <p:cNvSpPr txBox="1"/>
          <p:nvPr/>
        </p:nvSpPr>
        <p:spPr>
          <a:xfrm>
            <a:off x="7058254" y="5678424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텔레오퍼레이션 시연 시나리오 점검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05" y="28823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723290"/>
            <a:ext cx="12191695" cy="38405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476402" y="190195"/>
            <a:ext cx="112196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현장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952805"/>
            <a:ext cx="20491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현장 사진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3299154" y="6357823"/>
            <a:ext cx="67939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Leader/Follower 조립 및 LeRobot 개발환경 구축 완료</a:t>
            </a:r>
            <a:endParaRPr lang="en-US" sz="1800" dirty="0"/>
          </a:p>
        </p:txBody>
      </p:sp>
      <p:pic>
        <p:nvPicPr>
          <p:cNvPr id="11" name="그림 10" descr="케이블, 실내이(가) 표시된 사진&#10;&#10;자동 생성된 설명">
            <a:extLst>
              <a:ext uri="{FF2B5EF4-FFF2-40B4-BE49-F238E27FC236}">
                <a16:creationId xmlns:a16="http://schemas.microsoft.com/office/drawing/2014/main" id="{5F724EEF-D6DF-A925-8DD2-2659A63C4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03" y="1501133"/>
            <a:ext cx="3576577" cy="4766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3668</TotalTime>
  <Words>517</Words>
  <Application>Microsoft Macintosh PowerPoint</Application>
  <PresentationFormat>와이드스크린</PresentationFormat>
  <Paragraphs>95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장기헌/Jang Gi Heon</cp:lastModifiedBy>
  <cp:revision>5</cp:revision>
  <dcterms:created xsi:type="dcterms:W3CDTF">2026-04-27T11:32:54Z</dcterms:created>
  <dcterms:modified xsi:type="dcterms:W3CDTF">2026-05-20T02:11:52Z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d51960-f5ab-455f-8de0-bc0d6c02aaf3_Enabled">
    <vt:lpwstr>true</vt:lpwstr>
  </property>
  <property fmtid="{D5CDD505-2E9C-101B-9397-08002B2CF9AE}" pid="3" name="MSIP_Label_1fd51960-f5ab-455f-8de0-bc0d6c02aaf3_SetDate">
    <vt:lpwstr>2026-04-27T11:36:59Z</vt:lpwstr>
  </property>
  <property fmtid="{D5CDD505-2E9C-101B-9397-08002B2CF9AE}" pid="4" name="MSIP_Label_1fd51960-f5ab-455f-8de0-bc0d6c02aaf3_Method">
    <vt:lpwstr>Standard</vt:lpwstr>
  </property>
  <property fmtid="{D5CDD505-2E9C-101B-9397-08002B2CF9AE}" pid="5" name="MSIP_Label_1fd51960-f5ab-455f-8de0-bc0d6c02aaf3_Name">
    <vt:lpwstr>Public</vt:lpwstr>
  </property>
  <property fmtid="{D5CDD505-2E9C-101B-9397-08002B2CF9AE}" pid="6" name="MSIP_Label_1fd51960-f5ab-455f-8de0-bc0d6c02aaf3_SiteId">
    <vt:lpwstr>f8d5ac98-8fa9-4355-8cd9-84f322fb0a78</vt:lpwstr>
  </property>
  <property fmtid="{D5CDD505-2E9C-101B-9397-08002B2CF9AE}" pid="7" name="MSIP_Label_1fd51960-f5ab-455f-8de0-bc0d6c02aaf3_ActionId">
    <vt:lpwstr>28d0214d-7252-4b13-9aee-9f4ae074fbb4</vt:lpwstr>
  </property>
  <property fmtid="{D5CDD505-2E9C-101B-9397-08002B2CF9AE}" pid="8" name="MSIP_Label_1fd51960-f5ab-455f-8de0-bc0d6c02aaf3_ContentBits">
    <vt:lpwstr>0</vt:lpwstr>
  </property>
</Properties>
</file>